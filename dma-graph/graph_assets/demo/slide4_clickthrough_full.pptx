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Two-Layer Supply Chain Context Graph</a:t>
            </a:r>
          </a:p>
          <a:p/>
          <a:p>
            <a:r>
              <a:rPr sz="1100"/>
              <a:t>Every time the Disruption Mitigation Agent handles a supply chain problem, it doesn't just fix it and forget.</a:t>
            </a:r>
          </a:p>
          <a:p>
            <a:r>
              <a:rPr sz="1100"/>
              <a:t>It writes a trace into a memory layer — and the next agent facing a similar disruption starts smarter.</a:t>
            </a:r>
          </a:p>
          <a:p/>
          <a:p>
            <a:r>
              <a:rPr sz="1100"/>
              <a:t>Layer 1 — Operational Supply Chain Network: The physical and commercial entities you'd find in any ERP —</a:t>
            </a:r>
          </a:p>
          <a:p>
            <a:r>
              <a:rPr sz="1100"/>
              <a:t>Suppliers, Items, Purchase Orders, Production Orders, Inventory, Distribution Centers, Sales Orders, and Customers.</a:t>
            </a:r>
          </a:p>
          <a:p/>
          <a:p>
            <a:r>
              <a:rPr sz="1100"/>
              <a:t>Layer 2 — Intelligence Layer (Context Graph): Accumulated institutional memory — Episodes, MitigationDecisions,</a:t>
            </a:r>
          </a:p>
          <a:p>
            <a:r>
              <a:rPr sz="1100"/>
              <a:t>Facts, Reflections, Concepts, Policies, Goals, and Recommendations — distilled from every past DMA execution.</a:t>
            </a:r>
          </a:p>
          <a:p/>
          <a:p>
            <a:r>
              <a:rPr sz="1100"/>
              <a:t>Cross-layer edges anchor memory to specific supply chain entities so context retrieval is automatic.</a:t>
            </a:r>
          </a:p>
          <a:p/>
          <a:p>
            <a:r>
              <a:rPr sz="1100"/>
              <a:t>Worked example: PO-MOTR — DC Motor, Vendor 1003, 14-day delivery delay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Layer 1 is the operational supply chain — nodes and edges the agent acts on via MCP calls to D365.</a:t>
            </a:r>
          </a:p>
          <a:p/>
          <a:p>
            <a:r>
              <a:rPr sz="1100"/>
              <a:t>Node types:</a:t>
            </a:r>
          </a:p>
          <a:p/>
          <a:p>
            <a:r>
              <a:rPr sz="1100"/>
              <a:t>■ Supplier  </a:t>
            </a:r>
          </a:p>
          <a:p>
            <a:r>
              <a:rPr sz="1100"/>
              <a:t>■ Item / Material  </a:t>
            </a:r>
          </a:p>
          <a:p>
            <a:r>
              <a:rPr sz="1100"/>
              <a:t>■ Purchase Order  </a:t>
            </a:r>
          </a:p>
          <a:p>
            <a:r>
              <a:rPr sz="1100"/>
              <a:t>■ Production Order  </a:t>
            </a:r>
          </a:p>
          <a:p>
            <a:r>
              <a:rPr sz="1100"/>
              <a:t>■ Inventory  </a:t>
            </a:r>
          </a:p>
          <a:p>
            <a:r>
              <a:rPr sz="1100"/>
              <a:t>■ Distribution Center  </a:t>
            </a:r>
          </a:p>
          <a:p>
            <a:r>
              <a:rPr sz="1100"/>
              <a:t>■ Sales Order  </a:t>
            </a:r>
          </a:p>
          <a:p>
            <a:r>
              <a:rPr sz="1100"/>
              <a:t>■ Customer</a:t>
            </a:r>
          </a:p>
          <a:p/>
          <a:p>
            <a:r>
              <a:rPr sz="1100"/>
              <a:t>Edge types: </a:t>
            </a:r>
          </a:p>
          <a:p>
            <a:r>
              <a:rPr sz="1100"/>
              <a:t>supplies · delivers · consumed_by · produces ·</a:t>
            </a:r>
          </a:p>
          <a:p>
            <a:r>
              <a:rPr sz="1100"/>
              <a:t>stocked_at · allocated_to · transfers_to · ships_to ·</a:t>
            </a:r>
          </a:p>
          <a:p>
            <a:r>
              <a:rPr sz="1100"/>
              <a:t>pegged_to · alternate_for · substitutes_for</a:t>
            </a:r>
          </a:p>
          <a:p/>
          <a:p>
            <a:r>
              <a:rPr sz="1100"/>
              <a:t>The pegging chain links a Purchase Order directly to the Production Order that needs it,</a:t>
            </a:r>
          </a:p>
          <a:p>
            <a:r>
              <a:rPr sz="1100"/>
              <a:t>to the Sales Order at risk, all the way to the customer. This multi-hop traversal happens in milliseconds</a:t>
            </a:r>
          </a:p>
          <a:p>
            <a:r>
              <a:rPr sz="1100"/>
              <a:t>as a graph query. In a relational ERP model it would require sequential joins across multiple tables.</a:t>
            </a:r>
          </a:p>
          <a:p/>
          <a:p>
            <a:r>
              <a:rPr sz="1100"/>
              <a:t>Layer 1 is also where the agent acts — it issues new POs, triggers inventory transfers,</a:t>
            </a:r>
          </a:p>
          <a:p>
            <a:r>
              <a:rPr sz="1100"/>
              <a:t>and modifies delivery dates via MCP calls back to D365.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Layer 2 is the intelligence layer — the context graph that makes the agent accumulate institutional</a:t>
            </a:r>
          </a:p>
          <a:p>
            <a:r>
              <a:rPr sz="1100"/>
              <a:t>memory over time. The nodes here are not supply chain entities — they are memory constructs.</a:t>
            </a:r>
          </a:p>
          <a:p/>
          <a:p>
            <a:r>
              <a:rPr sz="1100"/>
              <a:t>Node types:</a:t>
            </a:r>
          </a:p>
          <a:p/>
          <a:p>
            <a:r>
              <a:rPr sz="1100"/>
              <a:t>■ Episode — timestamped, immutable record of one DMA execution  </a:t>
            </a:r>
          </a:p>
          <a:p>
            <a:r>
              <a:rPr sz="1100"/>
              <a:t>■ MitigationDecision — option chosen and why</a:t>
            </a:r>
          </a:p>
          <a:p/>
          <a:p>
            <a:r>
              <a:rPr sz="1100"/>
              <a:t>■ Fact — LLM-distilled atomic insight (e.g. “Vendor 1003 is disruption source in all 6 episodes”)  </a:t>
            </a:r>
          </a:p>
          <a:p>
            <a:r>
              <a:rPr sz="1100"/>
              <a:t>■ Reflection — higher-order pattern synthesized from multiple Facts</a:t>
            </a:r>
          </a:p>
          <a:p/>
          <a:p>
            <a:r>
              <a:rPr sz="1100"/>
              <a:t>■ Concept — thematic anchor enabling cross-disruption retrieval (e.g. safety_stock_erosion)  </a:t>
            </a:r>
          </a:p>
          <a:p>
            <a:r>
              <a:rPr sz="1100"/>
              <a:t>■ Policy  </a:t>
            </a:r>
          </a:p>
          <a:p>
            <a:r>
              <a:rPr sz="1100"/>
              <a:t>■ Goal  </a:t>
            </a:r>
          </a:p>
          <a:p>
            <a:r>
              <a:rPr sz="1100"/>
              <a:t>■ Recommendation</a:t>
            </a:r>
          </a:p>
          <a:p/>
          <a:p>
            <a:r>
              <a:rPr sz="1100"/>
              <a:t>Edge types: </a:t>
            </a:r>
          </a:p>
          <a:p>
            <a:r>
              <a:rPr sz="1100"/>
              <a:t>NEXT (temporal chain) · DERIVED_FROM · DERIVED_FROM_FACT ·</a:t>
            </a:r>
          </a:p>
          <a:p>
            <a:r>
              <a:rPr sz="1100"/>
              <a:t>HAS_CONCEPT · ABOUT_CONCEPT · GOVERNED_BY ·</a:t>
            </a:r>
          </a:p>
          <a:p>
            <a:r>
              <a:rPr sz="1100"/>
              <a:t>SCORED_AGAINST · SUPPORTED_BY</a:t>
            </a:r>
          </a:p>
          <a:p/>
          <a:p>
            <a:r>
              <a:rPr sz="1100"/>
              <a:t>Layer 2 is built in three phases: ① Preserve — every DMA run writes Episode + MitigationDecision</a:t>
            </a:r>
          </a:p>
          <a:p>
            <a:r>
              <a:rPr sz="1100"/>
              <a:t>immediately. ② Extract — a batch LLM job distils Fact nodes from recent Episodes.</a:t>
            </a:r>
          </a:p>
          <a:p>
            <a:r>
              <a:rPr sz="1100"/>
              <a:t>③ Synthesize — a periodic LLM job generates Reflections and Recommendations from Fact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The two layers are coupled through typed cross-layer edges (dashed lines in the diagram).</a:t>
            </a:r>
          </a:p>
          <a:p/>
          <a:p>
            <a:r>
              <a:rPr sz="1100"/>
              <a:t>Layer 1 nodes: </a:t>
            </a:r>
          </a:p>
          <a:p>
            <a:r>
              <a:rPr sz="1100"/>
              <a:t>■ Supplier </a:t>
            </a:r>
          </a:p>
          <a:p>
            <a:r>
              <a:rPr sz="1100"/>
              <a:t>■ Item </a:t>
            </a:r>
          </a:p>
          <a:p>
            <a:r>
              <a:rPr sz="1100"/>
              <a:t>■ Purchase Order </a:t>
            </a:r>
          </a:p>
          <a:p>
            <a:r>
              <a:rPr sz="1100"/>
              <a:t>■ Production Order </a:t>
            </a:r>
          </a:p>
          <a:p>
            <a:r>
              <a:rPr sz="1100"/>
              <a:t>■ Inventory </a:t>
            </a:r>
          </a:p>
          <a:p>
            <a:r>
              <a:rPr sz="1100"/>
              <a:t>■ Sales Order </a:t>
            </a:r>
          </a:p>
          <a:p>
            <a:r>
              <a:rPr sz="1100"/>
              <a:t>■ Customer</a:t>
            </a:r>
          </a:p>
          <a:p/>
          <a:p>
            <a:r>
              <a:rPr sz="1100"/>
              <a:t>Layer 1 edges: supplies · delivers · consumed_by ·</a:t>
            </a:r>
          </a:p>
          <a:p>
            <a:r>
              <a:rPr sz="1100"/>
              <a:t>stocked_at · allocated_to · pegged_to · alternate_for</a:t>
            </a:r>
          </a:p>
          <a:p/>
          <a:p>
            <a:r>
              <a:rPr sz="1100"/>
              <a:t>Layer 2 nodes: </a:t>
            </a:r>
          </a:p>
          <a:p>
            <a:r>
              <a:rPr sz="1100"/>
              <a:t>■ Episode </a:t>
            </a:r>
          </a:p>
          <a:p>
            <a:r>
              <a:rPr sz="1100"/>
              <a:t>■ MitigationDecision </a:t>
            </a:r>
          </a:p>
          <a:p>
            <a:r>
              <a:rPr sz="1100"/>
              <a:t>■ Fact </a:t>
            </a:r>
          </a:p>
          <a:p>
            <a:r>
              <a:rPr sz="1100"/>
              <a:t>■ Reflection </a:t>
            </a:r>
          </a:p>
          <a:p>
            <a:r>
              <a:rPr sz="1100"/>
              <a:t>■ Concept </a:t>
            </a:r>
          </a:p>
          <a:p>
            <a:r>
              <a:rPr sz="1100"/>
              <a:t>■ Policy </a:t>
            </a:r>
          </a:p>
          <a:p>
            <a:r>
              <a:rPr sz="1100"/>
              <a:t>■ Goal </a:t>
            </a:r>
          </a:p>
          <a:p>
            <a:r>
              <a:rPr sz="1100"/>
              <a:t>■ Recommendation</a:t>
            </a:r>
          </a:p>
          <a:p/>
          <a:p>
            <a:r>
              <a:rPr sz="1100"/>
              <a:t>Layer 2 edges: NEXT · DERIVED_FROM · DERIVED_FROM_FACT ·</a:t>
            </a:r>
          </a:p>
          <a:p>
            <a:r>
              <a:rPr sz="1100"/>
              <a:t>HAS_CONCEPT · GOVERNED_BY · SCORED_AGAINST · SUPPORTED_BY</a:t>
            </a:r>
          </a:p>
          <a:p/>
          <a:p>
            <a:r>
              <a:rPr sz="1100"/>
              <a:t>Cross-layer edges: </a:t>
            </a:r>
          </a:p>
          <a:p>
            <a:r>
              <a:rPr sz="1100"/>
              <a:t>CONCERNS (Episode → L1 entity)  · </a:t>
            </a:r>
          </a:p>
          <a:p>
            <a:r>
              <a:rPr sz="1100"/>
              <a:t>CHARACTERIZES (Fact → Supplier/Item)  · </a:t>
            </a:r>
          </a:p>
          <a:p>
            <a:r>
              <a:rPr sz="1100"/>
              <a:t>TARGETS (Reflection → Item)  · </a:t>
            </a:r>
          </a:p>
          <a:p>
            <a:r>
              <a:rPr sz="1100"/>
              <a:t>APPLIES_TO (Recommendation → Item)  · </a:t>
            </a:r>
          </a:p>
          <a:p>
            <a:r>
              <a:rPr sz="1100"/>
              <a:t>RESOLVED (Decision → Purchase Order)</a:t>
            </a:r>
          </a:p>
          <a:p/>
          <a:p>
            <a:r>
              <a:rPr sz="1100"/>
              <a:t>The agent reads Layer 2 before reasoning, acts on Layer 1 via MCP, and</a:t>
            </a:r>
          </a:p>
          <a:p>
            <a:r>
              <a:rPr sz="1100"/>
              <a:t>writes the trace back to Layer 2 when done. Cross-layer edges ensure that when the agent</a:t>
            </a:r>
          </a:p>
          <a:p>
            <a:r>
              <a:rPr sz="1100"/>
              <a:t>queries a vendor or item, all related memory surfaces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The full retrieval and execution loop in six steps:</a:t>
            </a:r>
          </a:p>
          <a:p/>
          <a:p>
            <a:r>
              <a:rPr sz="1100"/>
              <a:t>① Disruption Detected — PO-MOTR flagged: Vendor 1003, DC Motor, 14-day delay, 100 units at risk.</a:t>
            </a:r>
          </a:p>
          <a:p/>
          <a:p>
            <a:r>
              <a:rPr sz="1100"/>
              <a:t>② Anchor Traversal — Agent follows CHARACTERIZES edges from Vendor 1003 and DMA-MTR-DC</a:t>
            </a:r>
          </a:p>
          <a:p>
            <a:r>
              <a:rPr sz="1100"/>
              <a:t>(Layer 1 entities) up into Layer 2. Six prior episodes surface immediately — the agent is not starting cold.</a:t>
            </a:r>
          </a:p>
          <a:p/>
          <a:p>
            <a:r>
              <a:rPr sz="1100"/>
              <a:t>③ Concept Expansion — Hops through Concept nodes (safety_stock_erosion,</a:t>
            </a:r>
          </a:p>
          <a:p>
            <a:r>
              <a:rPr sz="1100"/>
              <a:t>alt_vendor_switch) to pull in all related Facts and Reflections, including those from disruptions</a:t>
            </a:r>
          </a:p>
          <a:p>
            <a:r>
              <a:rPr sz="1100"/>
              <a:t>with completely different PO numbers.</a:t>
            </a:r>
          </a:p>
          <a:p/>
          <a:p>
            <a:r>
              <a:rPr sz="1100"/>
              <a:t>④ Rank &amp; Inject Context — Recent episodes weighted higher. Top-k Facts + Reflections injected</a:t>
            </a:r>
          </a:p>
          <a:p>
            <a:r>
              <a:rPr sz="1100"/>
              <a:t>into the agent system prompt before evaluating a single mitigation option.</a:t>
            </a:r>
          </a:p>
          <a:p/>
          <a:p>
            <a:r>
              <a:rPr sz="1100"/>
              <a:t>⑤ Evaluate Mitigations — Score options against Goals and Policies. Rank 1 → Vendor 1002</a:t>
            </a:r>
          </a:p>
          <a:p>
            <a:r>
              <a:rPr sz="1100"/>
              <a:t>(known good alternate, confirmed by prior episode history in Layer 2).</a:t>
            </a:r>
          </a:p>
          <a:p/>
          <a:p>
            <a:r>
              <a:rPr sz="1100"/>
              <a:t>⑥ Execute via MCP — Issue new PO to Vendor 1002. Update D365. Write new Episode and</a:t>
            </a:r>
          </a:p>
          <a:p>
            <a:r>
              <a:rPr sz="1100"/>
              <a:t>MitigationDecision back to Layer 2. ♻</a:t>
            </a:r>
          </a:p>
          <a:p/>
          <a:p>
            <a:r>
              <a:rPr sz="1100"/>
              <a:t>Every execution enriches Layer 2. The next disruption on Vendor 1003 or DC Motor arrives pre-loaded</a:t>
            </a:r>
          </a:p>
          <a:p>
            <a:r>
              <a:rPr sz="1100"/>
              <a:t>with 6 episodes, 2 facts, 1 reflection, and 2 recommendations — none had to be re-derived.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PO-MOTR has just been flagged. Vendor 1003 — Ade Supply — is reporting a</a:t>
            </a:r>
          </a:p>
          <a:p>
            <a:r>
              <a:rPr sz="1100"/>
              <a:t>14-day delay on 100 DC Motors at $50/unit.</a:t>
            </a:r>
          </a:p>
          <a:p/>
          <a:p>
            <a:r>
              <a:rPr sz="1100"/>
              <a:t>Every node visible here belongs to one of two layers separated by the dashed line.</a:t>
            </a:r>
          </a:p>
          <a:p>
            <a:r>
              <a:rPr sz="1100"/>
              <a:t>Below: Layer 1, the live operational supply chain — suppliers, purchase orders,</a:t>
            </a:r>
          </a:p>
          <a:p>
            <a:r>
              <a:rPr sz="1100"/>
              <a:t>items, inventory, sales orders, customers.</a:t>
            </a:r>
          </a:p>
          <a:p>
            <a:r>
              <a:rPr sz="1100"/>
              <a:t>Above: Layer 2, the accumulated intelligence layer — episodes, facts, reflections,</a:t>
            </a:r>
          </a:p>
          <a:p>
            <a:r>
              <a:rPr sz="1100"/>
              <a:t>and decisions written by every prior Disruption Mitigation Agent execution.</a:t>
            </a:r>
          </a:p>
          <a:p/>
          <a:p>
            <a:r>
              <a:rPr sz="1100"/>
              <a:t>The agent's job: use both layers to arrive at the right mitigation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The agent's first move is to traverse Layer 1 — the live supply chain.</a:t>
            </a:r>
          </a:p>
          <a:p/>
          <a:p>
            <a:r>
              <a:rPr sz="1100"/>
              <a:t>Following the pegging chain from PO-MOTR exposes the full blast radius:</a:t>
            </a:r>
          </a:p>
          <a:p>
            <a:r>
              <a:rPr sz="1100"/>
              <a:t>the DC Motor is delivered by PO-MOTR, and that PO is pegged to</a:t>
            </a:r>
          </a:p>
          <a:p>
            <a:r>
              <a:rPr sz="1100"/>
              <a:t>Sales Order SO-MOTR, which belongs to MegaRetail — a Tier 1 customer</a:t>
            </a:r>
          </a:p>
          <a:p>
            <a:r>
              <a:rPr sz="1100"/>
              <a:t>with a hard SLA commitment.</a:t>
            </a:r>
          </a:p>
          <a:p/>
          <a:p>
            <a:r>
              <a:rPr sz="1100"/>
              <a:t>This multi-hop traversal — from a delayed purchase order all the way to an at-risk</a:t>
            </a:r>
          </a:p>
          <a:p>
            <a:r>
              <a:rPr sz="1100"/>
              <a:t>customer — happens as a single graph query in milliseconds. In a relational</a:t>
            </a:r>
          </a:p>
          <a:p>
            <a:r>
              <a:rPr sz="1100"/>
              <a:t>ERP model this would require sequential form navigation and joins across multiple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With the blast radius mapped, the agent crosses into Layer 2 via</a:t>
            </a:r>
          </a:p>
          <a:p>
            <a:r>
              <a:rPr sz="1100"/>
              <a:t>CONCERNS edges — the dashed orange lines that span both layers.</a:t>
            </a:r>
          </a:p>
          <a:p/>
          <a:p>
            <a:r>
              <a:rPr sz="1100"/>
              <a:t>These edges were written by past DMA executions and anchor memory nodes</a:t>
            </a:r>
          </a:p>
          <a:p>
            <a:r>
              <a:rPr sz="1100"/>
              <a:t>to the specific operational entities they concern. Starting from</a:t>
            </a:r>
          </a:p>
          <a:p>
            <a:r>
              <a:rPr sz="1100"/>
              <a:t>Vendor 1003 and DMA-MTR-DC in Layer 1, the agent follows</a:t>
            </a:r>
          </a:p>
          <a:p>
            <a:r>
              <a:rPr sz="1100"/>
              <a:t>CONCERNS edges upward into the intelligence layer.</a:t>
            </a:r>
          </a:p>
          <a:p/>
          <a:p>
            <a:r>
              <a:rPr sz="1100"/>
              <a:t>Six prior episodes surface immediately. All six involve Vendor 1003.</a:t>
            </a:r>
          </a:p>
          <a:p>
            <a:r>
              <a:rPr sz="1100"/>
              <a:t>The agent is not starting cold.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The six episodes form a temporal chain connected by NEXT edges.</a:t>
            </a:r>
          </a:p>
          <a:p/>
          <a:p>
            <a:r>
              <a:rPr sz="1100"/>
              <a:t>EP-001 through EP-005 are disruptions the agent has already handled and</a:t>
            </a:r>
          </a:p>
          <a:p>
            <a:r>
              <a:rPr sz="1100"/>
              <a:t>recorded memory for. EP-006 is the current disruption — it was</a:t>
            </a:r>
          </a:p>
          <a:p>
            <a:r>
              <a:rPr sz="1100"/>
              <a:t>written to Layer 2 at the start of this execution, before the agent</a:t>
            </a:r>
          </a:p>
          <a:p>
            <a:r>
              <a:rPr sz="1100"/>
              <a:t>evaluated a single mitigation option.</a:t>
            </a:r>
          </a:p>
          <a:p/>
          <a:p>
            <a:r>
              <a:rPr sz="1100"/>
              <a:t>This is the first compounding effect: the agent doesn't just react to</a:t>
            </a:r>
          </a:p>
          <a:p>
            <a:r>
              <a:rPr sz="1100"/>
              <a:t>today's disruption — it inherits the full recorded history of every</a:t>
            </a:r>
          </a:p>
          <a:p>
            <a:r>
              <a:rPr sz="1100"/>
              <a:t>prior disruption involving this vendor. Six data points instead of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FACT-007 is the key insight distilled from the episode history:</a:t>
            </a:r>
          </a:p>
          <a:p>
            <a:r>
              <a:rPr sz="1100"/>
              <a:t>"Vendor 1003 is the disruption source across all 6 recorded episodes."</a:t>
            </a:r>
          </a:p>
          <a:p/>
          <a:p>
            <a:r>
              <a:rPr sz="1100"/>
              <a:t>This fact was produced by an LLM Extract job that read the episode</a:t>
            </a:r>
          </a:p>
          <a:p>
            <a:r>
              <a:rPr sz="1100"/>
              <a:t>chain and extracted the pattern — it was not hardcoded by any rule engine.</a:t>
            </a:r>
          </a:p>
          <a:p>
            <a:r>
              <a:rPr sz="1100"/>
              <a:t>The DERIVED_FROM edge traces it back to EP-001.</a:t>
            </a:r>
          </a:p>
          <a:p/>
          <a:p>
            <a:r>
              <a:rPr sz="1100"/>
              <a:t>The CHARACTERIZES edge (dashed red) anchors FACT-007 to the</a:t>
            </a:r>
          </a:p>
          <a:p>
            <a:r>
              <a:rPr sz="1100"/>
              <a:t>Vendor 1003 node in Layer 1. Any future DMA query on this vendor surfaces</a:t>
            </a:r>
          </a:p>
          <a:p>
            <a:r>
              <a:rPr sz="1100"/>
              <a:t>this fact automatically — no re-derivation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FACT-006 flags a second risk: 30 units on-hand against a</a:t>
            </a:r>
          </a:p>
          <a:p>
            <a:r>
              <a:rPr sz="1100"/>
              <a:t>20-unit safety stock floor. Drawing all 30 units to cover the DC Motor</a:t>
            </a:r>
          </a:p>
          <a:p>
            <a:r>
              <a:rPr sz="1100"/>
              <a:t>shortfall would breach the floor — leaving zero buffer.</a:t>
            </a:r>
          </a:p>
          <a:p/>
          <a:p>
            <a:r>
              <a:rPr sz="1100"/>
              <a:t>REF-003 generalizes this to a structural pattern via</a:t>
            </a:r>
          </a:p>
          <a:p>
            <a:r>
              <a:rPr sz="1100"/>
              <a:t>DERIVED_FROM_FACT: "Items where on-hand inventory is less than</a:t>
            </a:r>
          </a:p>
          <a:p>
            <a:r>
              <a:rPr sz="1100"/>
              <a:t>twice the safety floor are inherently fragile."</a:t>
            </a:r>
          </a:p>
          <a:p>
            <a:r>
              <a:rPr sz="1100"/>
              <a:t>This Reflection was synthesized by an LLM across multiple fact clusters.</a:t>
            </a:r>
          </a:p>
          <a:p/>
          <a:p>
            <a:r>
              <a:rPr sz="1100"/>
              <a:t>The CHARACTERIZES edge anchors FACT-006 to DMA-MTR-DC (the DC Motor)</a:t>
            </a:r>
          </a:p>
          <a:p>
            <a:r>
              <a:rPr sz="1100"/>
              <a:t>in Layer 1. The ss_erosion Concept node enables cross-disruption</a:t>
            </a:r>
          </a:p>
          <a:p>
            <a:r>
              <a:rPr sz="1100"/>
              <a:t>retrieval — any future disruption tagged with this concept will find</a:t>
            </a:r>
          </a:p>
          <a:p>
            <a:r>
              <a:rPr sz="1100"/>
              <a:t>FACT-006 and REF-003 in its context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Context loaded, the agent evaluates four mitigation options:</a:t>
            </a:r>
          </a:p>
          <a:p/>
          <a:p>
            <a:r>
              <a:rPr sz="1100"/>
              <a:t>• DEC-006A — Switch to Vendor 1002 (Lande), $52/unit, 8-day lead. Full coverage.</a:t>
            </a:r>
          </a:p>
          <a:p>
            <a:r>
              <a:rPr sz="1100"/>
              <a:t>• DEC-006B — Switch to Vendor 1001 (Acme), $55/unit, 5-day lead. Full coverage.</a:t>
            </a:r>
          </a:p>
          <a:p>
            <a:r>
              <a:rPr sz="1100"/>
              <a:t>• DEC-006C — Draw from on-hand inventory (30 units). Breaches safety floor.</a:t>
            </a:r>
          </a:p>
          <a:p>
            <a:r>
              <a:rPr sz="1100"/>
              <a:t>• DEC-006D — Substitute AC Motor (alternate item). Also a floor breach.</a:t>
            </a:r>
          </a:p>
          <a:p/>
          <a:p>
            <a:r>
              <a:rPr sz="1100"/>
              <a:t>Each decision is scored against four Goals — SLA protection (25%),</a:t>
            </a:r>
          </a:p>
          <a:p>
            <a:r>
              <a:rPr sz="1100"/>
              <a:t>cost minimisation (25%), quantity coverage (25%), inventory health (25%) —</a:t>
            </a:r>
          </a:p>
          <a:p>
            <a:r>
              <a:rPr sz="1100"/>
              <a:t>and validated against POL-ONHOLD, the business policy governing</a:t>
            </a:r>
          </a:p>
          <a:p>
            <a:r>
              <a:rPr sz="1100"/>
              <a:t>purchase order changes. The scoring is transparent: the graph records exactly</a:t>
            </a:r>
          </a:p>
          <a:p>
            <a:r>
              <a:rPr sz="1100"/>
              <a:t>which goal drove which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DEC-006A wins. Switch to Vendor 1002 — Lande — at $52/unit,</a:t>
            </a:r>
          </a:p>
          <a:p>
            <a:r>
              <a:rPr sz="1100"/>
              <a:t>8-day lead time.</a:t>
            </a:r>
          </a:p>
          <a:p/>
          <a:p>
            <a:r>
              <a:rPr sz="1100"/>
              <a:t>The ranking was not arbitrary. FACT-007's six-episode failure record</a:t>
            </a:r>
          </a:p>
          <a:p>
            <a:r>
              <a:rPr sz="1100"/>
              <a:t>on Vendor 1003 made the alternate vendor switch the only viable full-coverage</a:t>
            </a:r>
          </a:p>
          <a:p>
            <a:r>
              <a:rPr sz="1100"/>
              <a:t>option. DEC-006C and DEC-006D are partial mitigations that both breach the</a:t>
            </a:r>
          </a:p>
          <a:p>
            <a:r>
              <a:rPr sz="1100"/>
              <a:t>safety floor — FACT-006 and REF-003 penalised them heavily in the Goal scoring.</a:t>
            </a:r>
          </a:p>
          <a:p/>
          <a:p>
            <a:r>
              <a:rPr sz="1100"/>
              <a:t>This is the second compounding effect: the agent did not reason from</a:t>
            </a:r>
          </a:p>
          <a:p>
            <a:r>
              <a:rPr sz="1100"/>
              <a:t>scratch. The conclusion — "switch to a known alternate" — was implicit</a:t>
            </a:r>
          </a:p>
          <a:p>
            <a:r>
              <a:rPr sz="1100"/>
              <a:t>in the Layer 2 context before the evaluation even started.</a:t>
            </a:r>
          </a:p>
          <a:p>
            <a:r>
              <a:rPr sz="1100"/>
              <a:t>DEC-006B through DEC-006D are dimmed; they were considered and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/>
              <a:t>The decision is recorded. A RESOLVED edge (teal dashed) is written</a:t>
            </a:r>
          </a:p>
          <a:p>
            <a:r>
              <a:rPr sz="1100"/>
              <a:t>from DEC-006A back to PO-MOTR in Layer 1 — the specific purchase order</a:t>
            </a:r>
          </a:p>
          <a:p>
            <a:r>
              <a:rPr sz="1100"/>
              <a:t>that triggered this run. The loop is closed.</a:t>
            </a:r>
          </a:p>
          <a:p/>
          <a:p>
            <a:r>
              <a:rPr sz="1100"/>
              <a:t>CONCERNS edges from EP-006 anchor the new episode to Vendor 1003</a:t>
            </a:r>
          </a:p>
          <a:p>
            <a:r>
              <a:rPr sz="1100"/>
              <a:t>and DMA-MTR-DC. CHARACTERIZES from FACT-007 stays live in Layer 1.</a:t>
            </a:r>
          </a:p>
          <a:p/>
          <a:p>
            <a:r>
              <a:rPr sz="1100"/>
              <a:t>The next disruption involving Vendor 1003 or DC Motors will arrive</a:t>
            </a:r>
          </a:p>
          <a:p>
            <a:r>
              <a:rPr sz="1100"/>
              <a:t>pre-loaded with:</a:t>
            </a:r>
          </a:p>
          <a:p>
            <a:r>
              <a:rPr sz="1100"/>
              <a:t>• 6 episodes in the temporal chain</a:t>
            </a:r>
          </a:p>
          <a:p>
            <a:r>
              <a:rPr sz="1100"/>
              <a:t>• 2 facts (unreliable vendor, safety floor risk)</a:t>
            </a:r>
          </a:p>
          <a:p>
            <a:r>
              <a:rPr sz="1100"/>
              <a:t>• 1 reflection (on-hand/floor structural fragility)</a:t>
            </a:r>
          </a:p>
          <a:p>
            <a:r>
              <a:rPr sz="1100"/>
              <a:t>• 2 recommendations (qualify alternates, increase on-hand target)</a:t>
            </a:r>
          </a:p>
          <a:p/>
          <a:p>
            <a:r>
              <a:rPr sz="1100"/>
              <a:t>None of this had to be re-derived. The graph doesn't forget.</a:t>
            </a:r>
          </a:p>
          <a:p>
            <a:r>
              <a:rPr sz="1100"/>
              <a:t>Every execution makes it smarter.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Overview  </a:t>
            </a:r>
            <a:r>
              <a:rPr sz="1300" b="1">
                <a:solidFill>
                  <a:srgbClr val="E6EDF3"/>
                </a:solidFill>
                <a:latin typeface="Segoe UI"/>
              </a:rPr>
              <a:t>Two-Layer Supply Chain Context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Layer 1  </a:t>
            </a:r>
            <a:r>
              <a:rPr sz="1300" b="1">
                <a:solidFill>
                  <a:srgbClr val="E6EDF3"/>
                </a:solidFill>
                <a:latin typeface="Segoe UI"/>
              </a:rPr>
              <a:t>Layer 1 — Supply Chain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Layer 2  </a:t>
            </a:r>
            <a:r>
              <a:rPr sz="1300" b="1">
                <a:solidFill>
                  <a:srgbClr val="E6EDF3"/>
                </a:solidFill>
                <a:latin typeface="Segoe UI"/>
              </a:rPr>
              <a:t>Layer 2 — Intelligence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Architecture  </a:t>
            </a:r>
            <a:r>
              <a:rPr sz="1300" b="1">
                <a:solidFill>
                  <a:srgbClr val="E6EDF3"/>
                </a:solidFill>
                <a:latin typeface="Segoe UI"/>
              </a:rPr>
              <a:t>Two-Layer Combined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Agent Loop  </a:t>
            </a:r>
            <a:r>
              <a:rPr sz="1300" b="1">
                <a:solidFill>
                  <a:srgbClr val="E6EDF3"/>
                </a:solidFill>
                <a:latin typeface="Segoe UI"/>
              </a:rPr>
              <a:t>Agent Retrieval &amp; Execution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①  </a:t>
            </a:r>
            <a:r>
              <a:rPr sz="1300" b="1">
                <a:solidFill>
                  <a:srgbClr val="E6EDF3"/>
                </a:solidFill>
                <a:latin typeface="Segoe UI"/>
              </a:rPr>
              <a:t>Disruption Detected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②  </a:t>
            </a:r>
            <a:r>
              <a:rPr sz="1300" b="1">
                <a:solidFill>
                  <a:srgbClr val="E6EDF3"/>
                </a:solidFill>
                <a:latin typeface="Segoe UI"/>
              </a:rPr>
              <a:t>Layer 1 — Trace the Pegging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③  </a:t>
            </a:r>
            <a:r>
              <a:rPr sz="1300" b="1">
                <a:solidFill>
                  <a:srgbClr val="E6EDF3"/>
                </a:solidFill>
                <a:latin typeface="Segoe UI"/>
              </a:rPr>
              <a:t>Anchor Traversal — CONCERNS Edges Into Layer 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④  </a:t>
            </a:r>
            <a:r>
              <a:rPr sz="1300" b="1">
                <a:solidFill>
                  <a:srgbClr val="E6EDF3"/>
                </a:solidFill>
                <a:latin typeface="Segoe UI"/>
              </a:rPr>
              <a:t>6 Prior Episodes — All Involving Vendor 1003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⑤  </a:t>
            </a:r>
            <a:r>
              <a:rPr sz="1300" b="1">
                <a:solidFill>
                  <a:srgbClr val="E6EDF3"/>
                </a:solidFill>
                <a:latin typeface="Segoe UI"/>
              </a:rPr>
              <a:t>FACT-007 Surfaces — Vendor 1003 Pattern Identified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⑥  </a:t>
            </a:r>
            <a:r>
              <a:rPr sz="1300" b="1">
                <a:solidFill>
                  <a:srgbClr val="E6EDF3"/>
                </a:solidFill>
                <a:latin typeface="Segoe UI"/>
              </a:rPr>
              <a:t>Safety Stock Risk — FACT-006 + REF-003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⑦  </a:t>
            </a:r>
            <a:r>
              <a:rPr sz="1300" b="1">
                <a:solidFill>
                  <a:srgbClr val="E6EDF3"/>
                </a:solidFill>
                <a:latin typeface="Segoe UI"/>
              </a:rPr>
              <a:t>Evaluate 4 Mitigation Options Against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⑧  </a:t>
            </a:r>
            <a:r>
              <a:rPr sz="1300" b="1">
                <a:solidFill>
                  <a:srgbClr val="E6EDF3"/>
                </a:solidFill>
                <a:latin typeface="Segoe UI"/>
              </a:rPr>
              <a:t>Rank-1 Selected — Vendor 1002, $52/unit, 8-day Lead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61B22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E3AF2"/>
                </a:solidFill>
                <a:latin typeface="Segoe UI"/>
              </a:rPr>
              <a:t>⑨  </a:t>
            </a:r>
            <a:r>
              <a:rPr sz="1300" b="1">
                <a:solidFill>
                  <a:srgbClr val="E6EDF3"/>
                </a:solidFill>
                <a:latin typeface="Segoe UI"/>
              </a:rPr>
              <a:t>RESOLVED — Decision Anchored · Loop Complete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47548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88"/>
            <a:ext cx="12188952" cy="6382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